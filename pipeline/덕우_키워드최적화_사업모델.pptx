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12"/>
    <p:restoredTop sz="94610"/>
  </p:normalViewPr>
  <p:slideViewPr>
    <p:cSldViewPr snapToGrid="0" snapToObjects="1">
      <p:cViewPr varScale="1">
        <p:scale>
          <a:sx n="232" d="100"/>
          <a:sy n="232" d="100"/>
        </p:scale>
        <p:origin x="48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ko-KR" altLang="en-US" sz="1800" b="0" i="0" u="none" strike="noStrike">
                <a:solidFill>
                  <a:srgbClr val="1E293B"/>
                </a:solidFill>
                <a:latin typeface="Arial"/>
              </a:rPr>
              <a:t>월 매출 </a:t>
            </a:r>
            <a:r>
              <a:rPr lang="en-US" altLang="ko-KR" sz="1800" b="0" i="0" u="none" strike="noStrike">
                <a:solidFill>
                  <a:srgbClr val="1E293B"/>
                </a:solidFill>
                <a:latin typeface="Arial"/>
              </a:rPr>
              <a:t>(</a:t>
            </a:r>
            <a:r>
              <a:rPr lang="ko-KR" altLang="en-US" sz="1800" b="0" i="0" u="none" strike="noStrike">
                <a:solidFill>
                  <a:srgbClr val="1E293B"/>
                </a:solidFill>
                <a:latin typeface="Arial"/>
              </a:rPr>
              <a:t>백만원</a:t>
            </a:r>
            <a:r>
              <a:rPr lang="en-US" altLang="ko-KR" sz="1800" b="0" i="0" u="none" strike="noStrike">
                <a:solidFill>
                  <a:srgbClr val="1E293B"/>
                </a:solidFill>
                <a:latin typeface="Arial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1년차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Lite</c:v>
                </c:pt>
                <c:pt idx="1">
                  <c:v>Starter</c:v>
                </c:pt>
                <c:pt idx="2">
                  <c:v>Growth</c:v>
                </c:pt>
                <c:pt idx="3">
                  <c:v>Pro</c:v>
                </c:pt>
                <c:pt idx="4">
                  <c:v>Enterprise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3.48</c:v>
                </c:pt>
                <c:pt idx="1">
                  <c:v>6.21</c:v>
                </c:pt>
                <c:pt idx="2">
                  <c:v>11.4</c:v>
                </c:pt>
                <c:pt idx="3">
                  <c:v>11.76</c:v>
                </c:pt>
                <c:pt idx="4">
                  <c:v>5.94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05-5549-83CA-13D1FF5AAF1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2년차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Lite</c:v>
                </c:pt>
                <c:pt idx="1">
                  <c:v>Starter</c:v>
                </c:pt>
                <c:pt idx="2">
                  <c:v>Growth</c:v>
                </c:pt>
                <c:pt idx="3">
                  <c:v>Pro</c:v>
                </c:pt>
                <c:pt idx="4">
                  <c:v>Enterprise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10.88</c:v>
                </c:pt>
                <c:pt idx="1">
                  <c:v>25.88</c:v>
                </c:pt>
                <c:pt idx="2">
                  <c:v>71.25</c:v>
                </c:pt>
                <c:pt idx="3">
                  <c:v>110.25</c:v>
                </c:pt>
                <c:pt idx="4">
                  <c:v>148.5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05-5549-83CA-13D1FF5AAF1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3년차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Lite</c:v>
                </c:pt>
                <c:pt idx="1">
                  <c:v>Starter</c:v>
                </c:pt>
                <c:pt idx="2">
                  <c:v>Growth</c:v>
                </c:pt>
                <c:pt idx="3">
                  <c:v>Pro</c:v>
                </c:pt>
                <c:pt idx="4">
                  <c:v>Enterprise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29</c:v>
                </c:pt>
                <c:pt idx="1">
                  <c:v>69</c:v>
                </c:pt>
                <c:pt idx="2">
                  <c:v>237.5</c:v>
                </c:pt>
                <c:pt idx="3">
                  <c:v>490</c:v>
                </c:pt>
                <c:pt idx="4">
                  <c:v>742.5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605-5549-83CA-13D1FF5AAF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3880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덕우 AI 키워드 최적화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사업계획서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22860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BRIGHTEN PTE. LTD.  |  2026.04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0" y="1097280"/>
            <a:ext cx="1828800" cy="1828800"/>
          </a:xfrm>
          <a:prstGeom prst="rect">
            <a:avLst/>
          </a:prstGeom>
          <a:solidFill>
            <a:srgbClr val="065A8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SG"/>
          </a:p>
        </p:txBody>
      </p:sp>
      <p:sp>
        <p:nvSpPr>
          <p:cNvPr id="10" name="Text 8"/>
          <p:cNvSpPr/>
          <p:nvPr/>
        </p:nvSpPr>
        <p:spPr>
          <a:xfrm>
            <a:off x="7040880" y="137160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</a:rPr>
              <a:t>AI 키워드 창작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</a:rPr>
              <a:t>+ 이미지 검증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</a:rPr>
              <a:t>+ 검색량 필터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0" y="3017520"/>
            <a:ext cx="1828800" cy="411480"/>
          </a:xfrm>
          <a:prstGeom prst="rect">
            <a:avLst/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엑셀 일괄 처리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서비스 정의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SG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4864" cy="5029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6" name="Text 4"/>
          <p:cNvSpPr/>
          <p:nvPr/>
        </p:nvSpPr>
        <p:spPr>
          <a:xfrm>
            <a:off x="777240" y="11887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서비스명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18872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덕우 AI 키워드 최적화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8046720" cy="50292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54864" cy="5029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10" name="Text 8"/>
          <p:cNvSpPr/>
          <p:nvPr/>
        </p:nvSpPr>
        <p:spPr>
          <a:xfrm>
            <a:off x="777240" y="1783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가치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0" y="17830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키워드 창작 + 이미지 검증 + 검색량 필터 → 엑셀 일괄 처리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377440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SG"/>
          </a:p>
        </p:txBody>
      </p:sp>
      <p:sp>
        <p:nvSpPr>
          <p:cNvPr id="13" name="Shape 11"/>
          <p:cNvSpPr/>
          <p:nvPr/>
        </p:nvSpPr>
        <p:spPr>
          <a:xfrm>
            <a:off x="548640" y="2377440"/>
            <a:ext cx="54864" cy="5029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14" name="Text 12"/>
          <p:cNvSpPr/>
          <p:nvPr/>
        </p:nvSpPr>
        <p:spPr>
          <a:xfrm>
            <a:off x="777240" y="23774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타겟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237744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네이버 스마트스토어 셀러 / 유통사 / 대행사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8046720" cy="50292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17" name="Shape 15"/>
          <p:cNvSpPr/>
          <p:nvPr/>
        </p:nvSpPr>
        <p:spPr>
          <a:xfrm>
            <a:off x="548640" y="2971800"/>
            <a:ext cx="54864" cy="5029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18" name="Text 16"/>
          <p:cNvSpPr/>
          <p:nvPr/>
        </p:nvSpPr>
        <p:spPr>
          <a:xfrm>
            <a:off x="777240" y="29718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차별점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86000" y="297180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도구는 '조회'만. 우리는 '창작+최적화'까지 자동화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566160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SG"/>
          </a:p>
        </p:txBody>
      </p:sp>
      <p:sp>
        <p:nvSpPr>
          <p:cNvPr id="21" name="Shape 19"/>
          <p:cNvSpPr/>
          <p:nvPr/>
        </p:nvSpPr>
        <p:spPr>
          <a:xfrm>
            <a:off x="548640" y="3566160"/>
            <a:ext cx="54864" cy="5029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22" name="Text 20"/>
          <p:cNvSpPr/>
          <p:nvPr/>
        </p:nvSpPr>
        <p:spPr>
          <a:xfrm>
            <a:off x="777240" y="35661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286000" y="356616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Flash + 네이버 검색광고 API + Supabase Edge Function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160520"/>
            <a:ext cx="8046720" cy="50292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25" name="Shape 23"/>
          <p:cNvSpPr/>
          <p:nvPr/>
        </p:nvSpPr>
        <p:spPr>
          <a:xfrm>
            <a:off x="548640" y="4160520"/>
            <a:ext cx="54864" cy="5029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26" name="Text 24"/>
          <p:cNvSpPr/>
          <p:nvPr/>
        </p:nvSpPr>
        <p:spPr>
          <a:xfrm>
            <a:off x="7772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원가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86000" y="416052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건당 ~7원 (Gemini Flash) → Gemma 전환 시 ~3원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3-Step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3200400"/>
          </a:xfrm>
          <a:prstGeom prst="rect">
            <a:avLst/>
          </a:prstGeom>
          <a:solidFill>
            <a:srgbClr val="1A2E4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SG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키워드 창작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109728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Flash가 상품명+이미지 기반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7개 카테고리 키워드 50개 자동 생성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금지어 코드 레벨 필터링 (80+항목)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280160"/>
            <a:ext cx="2651760" cy="3200400"/>
          </a:xfrm>
          <a:prstGeom prst="rect">
            <a:avLst/>
          </a:prstGeom>
          <a:solidFill>
            <a:srgbClr val="1A2E4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SG"/>
          </a:p>
        </p:txBody>
      </p:sp>
      <p:sp>
        <p:nvSpPr>
          <p:cNvPr id="10" name="Text 8"/>
          <p:cNvSpPr/>
          <p:nvPr/>
        </p:nvSpPr>
        <p:spPr>
          <a:xfrm>
            <a:off x="3520440" y="14630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52044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검증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20440" y="2560320"/>
            <a:ext cx="1097280" cy="2743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13" name="Text 11"/>
          <p:cNvSpPr/>
          <p:nvPr/>
        </p:nvSpPr>
        <p:spPr>
          <a:xfrm>
            <a:off x="3520440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AI로 상품 이미지와 키워드 매칭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관련 없는 키워드 자동 제거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오탐률 최소화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280160"/>
            <a:ext cx="2651760" cy="3200400"/>
          </a:xfrm>
          <a:prstGeom prst="rect">
            <a:avLst/>
          </a:prstGeom>
          <a:solidFill>
            <a:srgbClr val="1A2E4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SG"/>
          </a:p>
        </p:txBody>
      </p:sp>
      <p:sp>
        <p:nvSpPr>
          <p:cNvPr id="15" name="Text 13"/>
          <p:cNvSpPr/>
          <p:nvPr/>
        </p:nvSpPr>
        <p:spPr>
          <a:xfrm>
            <a:off x="6400800" y="14630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E74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40080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검색량 확인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0" y="2560320"/>
            <a:ext cx="1097280" cy="27432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18" name="Text 16"/>
          <p:cNvSpPr/>
          <p:nvPr/>
        </p:nvSpPr>
        <p:spPr>
          <a:xfrm>
            <a:off x="6400800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네이버 검색광고 API 연동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월간 검색량 0인 키워드 제거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고검색↔저검색 스마트 배분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718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4B8A6"/>
                </a:solidFill>
              </a:rPr>
              <a:t>→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85216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4B8A6"/>
                </a:solidFill>
              </a:rPr>
              <a:t>→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경쟁사 가격 비교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SG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6974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도구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유형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월 가격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건당 환산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기능 범위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아이템스카우트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키워드 조회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9,900~29,700원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검색량 조회, 랭킹 추적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판다랭크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키워드+소싱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25,000원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키워드 분석, 경쟁률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셀록홈즈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키워드+소싱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~19,800원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키워드, 1688 검색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크몽 대행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수작업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건당 과금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5,000~30,000원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상품명 수작업 최적화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대행사 (대량)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수작업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건당 과금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500~2,000원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상품명+키워드 최적화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 우리 서비스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자동화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29,000~990,000원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30~58원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창작+이미지검증+검색량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SG"/>
          </a:p>
        </p:txBody>
      </p:sp>
      <p:sp>
        <p:nvSpPr>
          <p:cNvPr id="6" name="Shape 3"/>
          <p:cNvSpPr/>
          <p:nvPr/>
        </p:nvSpPr>
        <p:spPr>
          <a:xfrm>
            <a:off x="457200" y="393192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7" name="Text 4"/>
          <p:cNvSpPr/>
          <p:nvPr/>
        </p:nvSpPr>
        <p:spPr>
          <a:xfrm>
            <a:off x="731520" y="39319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차별점: </a:t>
            </a: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도구는 '검색량 조회'만 제공. 우리는 AI가 키워드를 '창작'하고 이미지로 '검증'까지 자동화.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요금제 설계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685800"/>
            <a:ext cx="137160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1554480" cy="3291840"/>
          </a:xfrm>
          <a:prstGeom prst="rect">
            <a:avLst/>
          </a:prstGeom>
          <a:solidFill>
            <a:srgbClr val="15223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SG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155448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" y="16002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29,000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011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/월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097280" cy="18288"/>
          </a:xfrm>
          <a:prstGeom prst="rect">
            <a:avLst/>
          </a:prstGeom>
          <a:solidFill>
            <a:srgbClr val="2A3F5F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10" name="Text 8"/>
          <p:cNvSpPr/>
          <p:nvPr/>
        </p:nvSpPr>
        <p:spPr>
          <a:xfrm>
            <a:off x="320040" y="2468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500건 포함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2788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건당 58원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1097280" cy="18288"/>
          </a:xfrm>
          <a:prstGeom prst="rect">
            <a:avLst/>
          </a:prstGeom>
          <a:solidFill>
            <a:srgbClr val="2A3F5F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13" name="Text 11"/>
          <p:cNvSpPr/>
          <p:nvPr/>
        </p:nvSpPr>
        <p:spPr>
          <a:xfrm>
            <a:off x="320040" y="3337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 셀러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57400" y="1051560"/>
            <a:ext cx="1554480" cy="3291840"/>
          </a:xfrm>
          <a:prstGeom prst="rect">
            <a:avLst/>
          </a:prstGeom>
          <a:solidFill>
            <a:srgbClr val="15223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SG"/>
          </a:p>
        </p:txBody>
      </p:sp>
      <p:sp>
        <p:nvSpPr>
          <p:cNvPr id="15" name="Shape 13"/>
          <p:cNvSpPr/>
          <p:nvPr/>
        </p:nvSpPr>
        <p:spPr>
          <a:xfrm>
            <a:off x="2057400" y="1051560"/>
            <a:ext cx="155448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16" name="Text 14"/>
          <p:cNvSpPr/>
          <p:nvPr/>
        </p:nvSpPr>
        <p:spPr>
          <a:xfrm>
            <a:off x="2057400" y="1234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057400" y="16002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69,000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57400" y="2011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/월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0" y="2331720"/>
            <a:ext cx="1097280" cy="18288"/>
          </a:xfrm>
          <a:prstGeom prst="rect">
            <a:avLst/>
          </a:prstGeom>
          <a:solidFill>
            <a:srgbClr val="2A3F5F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20" name="Text 18"/>
          <p:cNvSpPr/>
          <p:nvPr/>
        </p:nvSpPr>
        <p:spPr>
          <a:xfrm>
            <a:off x="2057400" y="2468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2,000건 포함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057400" y="2788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건당 34.5원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0" y="3200400"/>
            <a:ext cx="1097280" cy="18288"/>
          </a:xfrm>
          <a:prstGeom prst="rect">
            <a:avLst/>
          </a:prstGeom>
          <a:solidFill>
            <a:srgbClr val="2A3F5F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23" name="Text 21"/>
          <p:cNvSpPr/>
          <p:nvPr/>
        </p:nvSpPr>
        <p:spPr>
          <a:xfrm>
            <a:off x="2057400" y="3337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중형 셀러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794760" y="960120"/>
            <a:ext cx="1554480" cy="3474720"/>
          </a:xfrm>
          <a:prstGeom prst="rect">
            <a:avLst/>
          </a:prstGeom>
          <a:solidFill>
            <a:srgbClr val="1A3A5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SG"/>
          </a:p>
        </p:txBody>
      </p:sp>
      <p:sp>
        <p:nvSpPr>
          <p:cNvPr id="25" name="Shape 23"/>
          <p:cNvSpPr/>
          <p:nvPr/>
        </p:nvSpPr>
        <p:spPr>
          <a:xfrm>
            <a:off x="3794760" y="960120"/>
            <a:ext cx="155448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26" name="Text 24"/>
          <p:cNvSpPr/>
          <p:nvPr/>
        </p:nvSpPr>
        <p:spPr>
          <a:xfrm>
            <a:off x="3794760" y="1143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794760" y="1508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190,000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79476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/월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023360" y="2240280"/>
            <a:ext cx="1097280" cy="18288"/>
          </a:xfrm>
          <a:prstGeom prst="rect">
            <a:avLst/>
          </a:prstGeom>
          <a:solidFill>
            <a:srgbClr val="2A3F5F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30" name="Text 28"/>
          <p:cNvSpPr/>
          <p:nvPr/>
        </p:nvSpPr>
        <p:spPr>
          <a:xfrm>
            <a:off x="379476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6,000건 포함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79476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건당 31.7원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023360" y="3108960"/>
            <a:ext cx="1097280" cy="18288"/>
          </a:xfrm>
          <a:prstGeom prst="rect">
            <a:avLst/>
          </a:prstGeom>
          <a:solidFill>
            <a:srgbClr val="2A3F5F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33" name="Text 31"/>
          <p:cNvSpPr/>
          <p:nvPr/>
        </p:nvSpPr>
        <p:spPr>
          <a:xfrm>
            <a:off x="3794760" y="32461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대형 셀러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023360" y="3703320"/>
            <a:ext cx="1097280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35" name="Text 33"/>
          <p:cNvSpPr/>
          <p:nvPr/>
        </p:nvSpPr>
        <p:spPr>
          <a:xfrm>
            <a:off x="4023360" y="3703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532120" y="1051560"/>
            <a:ext cx="1554480" cy="3291840"/>
          </a:xfrm>
          <a:prstGeom prst="rect">
            <a:avLst/>
          </a:prstGeom>
          <a:solidFill>
            <a:srgbClr val="15223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SG"/>
          </a:p>
        </p:txBody>
      </p:sp>
      <p:sp>
        <p:nvSpPr>
          <p:cNvPr id="37" name="Shape 35"/>
          <p:cNvSpPr/>
          <p:nvPr/>
        </p:nvSpPr>
        <p:spPr>
          <a:xfrm>
            <a:off x="5532120" y="1051560"/>
            <a:ext cx="1554480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38" name="Text 36"/>
          <p:cNvSpPr/>
          <p:nvPr/>
        </p:nvSpPr>
        <p:spPr>
          <a:xfrm>
            <a:off x="5532120" y="1234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5532120" y="16002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490,000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532120" y="2011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/월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760720" y="2331720"/>
            <a:ext cx="1097280" cy="18288"/>
          </a:xfrm>
          <a:prstGeom prst="rect">
            <a:avLst/>
          </a:prstGeom>
          <a:solidFill>
            <a:srgbClr val="2A3F5F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42" name="Text 40"/>
          <p:cNvSpPr/>
          <p:nvPr/>
        </p:nvSpPr>
        <p:spPr>
          <a:xfrm>
            <a:off x="5532120" y="2468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16,000건 포함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532120" y="2788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건당 30.6원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760720" y="3200400"/>
            <a:ext cx="1097280" cy="18288"/>
          </a:xfrm>
          <a:prstGeom prst="rect">
            <a:avLst/>
          </a:prstGeom>
          <a:solidFill>
            <a:srgbClr val="2A3F5F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45" name="Text 43"/>
          <p:cNvSpPr/>
          <p:nvPr/>
        </p:nvSpPr>
        <p:spPr>
          <a:xfrm>
            <a:off x="5532120" y="3337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유통사급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269480" y="1051560"/>
            <a:ext cx="1554480" cy="3291840"/>
          </a:xfrm>
          <a:prstGeom prst="rect">
            <a:avLst/>
          </a:prstGeom>
          <a:solidFill>
            <a:srgbClr val="15223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SG"/>
          </a:p>
        </p:txBody>
      </p:sp>
      <p:sp>
        <p:nvSpPr>
          <p:cNvPr id="47" name="Shape 45"/>
          <p:cNvSpPr/>
          <p:nvPr/>
        </p:nvSpPr>
        <p:spPr>
          <a:xfrm>
            <a:off x="7269480" y="1051560"/>
            <a:ext cx="1554480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48" name="Text 46"/>
          <p:cNvSpPr/>
          <p:nvPr/>
        </p:nvSpPr>
        <p:spPr>
          <a:xfrm>
            <a:off x="7269480" y="1234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7269480" y="16002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990,000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269480" y="2011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/월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498080" y="2331720"/>
            <a:ext cx="1097280" cy="18288"/>
          </a:xfrm>
          <a:prstGeom prst="rect">
            <a:avLst/>
          </a:prstGeom>
          <a:solidFill>
            <a:srgbClr val="2A3F5F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52" name="Text 50"/>
          <p:cNvSpPr/>
          <p:nvPr/>
        </p:nvSpPr>
        <p:spPr>
          <a:xfrm>
            <a:off x="7269480" y="2468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33,000건 포함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269480" y="2788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건당 30원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498080" y="3200400"/>
            <a:ext cx="1097280" cy="18288"/>
          </a:xfrm>
          <a:prstGeom prst="rect">
            <a:avLst/>
          </a:prstGeom>
          <a:solidFill>
            <a:srgbClr val="2A3F5F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55" name="Text 53"/>
          <p:cNvSpPr/>
          <p:nvPr/>
        </p:nvSpPr>
        <p:spPr>
          <a:xfrm>
            <a:off x="7269480" y="3337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대행사/대량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원가 구조 &amp; 마진율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SG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3840480" cy="1792224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항목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현재 (Gemini)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Gemma 전환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처리 (건당)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5.8원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네이버 API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인프라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합계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6.8원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846320" y="118872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SG"/>
          </a:p>
        </p:txBody>
      </p:sp>
      <p:sp>
        <p:nvSpPr>
          <p:cNvPr id="6" name="Shape 3"/>
          <p:cNvSpPr/>
          <p:nvPr/>
        </p:nvSpPr>
        <p:spPr>
          <a:xfrm>
            <a:off x="4846320" y="1188720"/>
            <a:ext cx="54864" cy="1463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4" name="Text 4"/>
          <p:cNvSpPr/>
          <p:nvPr/>
        </p:nvSpPr>
        <p:spPr>
          <a:xfrm>
            <a:off x="5120640" y="1234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마진율 (건당 30원 기준)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120640" y="1600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0" y="1508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77.3%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120640" y="2011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전환 후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58000" y="1920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90.0%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457200" y="347472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SG"/>
          </a:p>
        </p:txBody>
      </p:sp>
      <p:sp>
        <p:nvSpPr>
          <p:cNvPr id="13" name="Shape 10"/>
          <p:cNvSpPr/>
          <p:nvPr/>
        </p:nvSpPr>
        <p:spPr>
          <a:xfrm>
            <a:off x="457200" y="3474720"/>
            <a:ext cx="82296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14" name="Text 11"/>
          <p:cNvSpPr/>
          <p:nvPr/>
        </p:nvSpPr>
        <p:spPr>
          <a:xfrm>
            <a:off x="914400" y="36576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1/100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914400" y="4114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대행사 대비 단가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657600" y="36576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3657600" y="4114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자동화율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0" y="36576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90%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6400800" y="4114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 마진율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매출 추정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685800"/>
            <a:ext cx="137160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560320" cy="3657600"/>
          </a:xfrm>
          <a:prstGeom prst="rect">
            <a:avLst/>
          </a:prstGeom>
          <a:solidFill>
            <a:srgbClr val="15223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SG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56032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1년차 (보수적)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유료 고객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8470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300명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MRR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5328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₩44.6M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30175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 ARR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2186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₩535M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" y="37033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영업이익률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9044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74.6%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291840" y="914400"/>
            <a:ext cx="2560320" cy="3657600"/>
          </a:xfrm>
          <a:prstGeom prst="rect">
            <a:avLst/>
          </a:prstGeom>
          <a:solidFill>
            <a:srgbClr val="15223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SG"/>
          </a:p>
        </p:txBody>
      </p:sp>
      <p:sp>
        <p:nvSpPr>
          <p:cNvPr id="16" name="Shape 14"/>
          <p:cNvSpPr/>
          <p:nvPr/>
        </p:nvSpPr>
        <p:spPr>
          <a:xfrm>
            <a:off x="3291840" y="914400"/>
            <a:ext cx="256032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17" name="Text 15"/>
          <p:cNvSpPr/>
          <p:nvPr/>
        </p:nvSpPr>
        <p:spPr>
          <a:xfrm>
            <a:off x="3291840" y="1097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2년차 (중립)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66160" y="16459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유료 고객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66160" y="18470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1,500명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566160" y="23317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MRR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66160" y="25328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₩421.8M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566160" y="30175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 ARR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566160" y="32186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₩50.6억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566160" y="37033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영업이익률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66160" y="39044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81.6%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126480" y="914400"/>
            <a:ext cx="2560320" cy="3657600"/>
          </a:xfrm>
          <a:prstGeom prst="rect">
            <a:avLst/>
          </a:prstGeom>
          <a:solidFill>
            <a:srgbClr val="15223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SG"/>
          </a:p>
        </p:txBody>
      </p:sp>
      <p:sp>
        <p:nvSpPr>
          <p:cNvPr id="27" name="Shape 25"/>
          <p:cNvSpPr/>
          <p:nvPr/>
        </p:nvSpPr>
        <p:spPr>
          <a:xfrm>
            <a:off x="6126480" y="91440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28" name="Text 26"/>
          <p:cNvSpPr/>
          <p:nvPr/>
        </p:nvSpPr>
        <p:spPr>
          <a:xfrm>
            <a:off x="6126480" y="1097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3년차 (낙관)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0" y="16459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유료 고객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0" y="18470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5,000명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400800" y="23317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MRR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0" y="25328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₩1,803M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400800" y="30175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 ARR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0" y="32186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₩216.4억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400800" y="37033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영업이익률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0" y="39044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79.9%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플랜별 고객 구성 (3년차)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SG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097280"/>
          <a:ext cx="5029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097280"/>
            <a:ext cx="30175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SG"/>
          </a:p>
        </p:txBody>
      </p:sp>
      <p:sp>
        <p:nvSpPr>
          <p:cNvPr id="6" name="Shape 3"/>
          <p:cNvSpPr/>
          <p:nvPr/>
        </p:nvSpPr>
        <p:spPr>
          <a:xfrm>
            <a:off x="5760720" y="1097280"/>
            <a:ext cx="54864" cy="3474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7" name="Text 4"/>
          <p:cNvSpPr/>
          <p:nvPr/>
        </p:nvSpPr>
        <p:spPr>
          <a:xfrm>
            <a:off x="6035040" y="1280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인사이트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035040" y="1828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Pro·Enterprise가 전체 매출의 78% 차지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35040" y="2286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수는 Lite가 많지만 매출 기여도는 낮음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35040" y="2743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대행사·유통사 확보가 수익성의 핵심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35040" y="3200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초과분 매출 +15%로 안정적 상향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로드맵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685800"/>
            <a:ext cx="137160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4" name="Shape 2"/>
          <p:cNvSpPr/>
          <p:nvPr/>
        </p:nvSpPr>
        <p:spPr>
          <a:xfrm>
            <a:off x="457200" y="2468880"/>
            <a:ext cx="82296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5" name="Shape 3"/>
          <p:cNvSpPr/>
          <p:nvPr/>
        </p:nvSpPr>
        <p:spPr>
          <a:xfrm>
            <a:off x="1188720" y="233172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MVP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1737360" cy="1645920"/>
          </a:xfrm>
          <a:prstGeom prst="rect">
            <a:avLst/>
          </a:prstGeom>
          <a:solidFill>
            <a:srgbClr val="15223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SG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173736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10" name="Text 8"/>
          <p:cNvSpPr/>
          <p:nvPr/>
        </p:nvSpPr>
        <p:spPr>
          <a:xfrm>
            <a:off x="685800" y="301752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 검증 완료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덕우무역 실적용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피드백 수집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2331720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12" name="Text 10"/>
          <p:cNvSpPr/>
          <p:nvPr/>
        </p:nvSpPr>
        <p:spPr>
          <a:xfrm>
            <a:off x="2606040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0604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Beta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697480" y="2834640"/>
            <a:ext cx="1737360" cy="1645920"/>
          </a:xfrm>
          <a:prstGeom prst="rect">
            <a:avLst/>
          </a:prstGeom>
          <a:solidFill>
            <a:srgbClr val="15223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SG"/>
          </a:p>
        </p:txBody>
      </p:sp>
      <p:sp>
        <p:nvSpPr>
          <p:cNvPr id="15" name="Shape 13"/>
          <p:cNvSpPr/>
          <p:nvPr/>
        </p:nvSpPr>
        <p:spPr>
          <a:xfrm>
            <a:off x="2697480" y="2834640"/>
            <a:ext cx="1737360" cy="457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16" name="Text 14"/>
          <p:cNvSpPr/>
          <p:nvPr/>
        </p:nvSpPr>
        <p:spPr>
          <a:xfrm>
            <a:off x="2834640" y="301752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10사 클로즈드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 시스템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전환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0" y="233172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18" name="Text 16"/>
          <p:cNvSpPr/>
          <p:nvPr/>
        </p:nvSpPr>
        <p:spPr>
          <a:xfrm>
            <a:off x="4754880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Launch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46320" y="2834640"/>
            <a:ext cx="1737360" cy="1645920"/>
          </a:xfrm>
          <a:prstGeom prst="rect">
            <a:avLst/>
          </a:prstGeom>
          <a:solidFill>
            <a:srgbClr val="15223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SG"/>
          </a:p>
        </p:txBody>
      </p:sp>
      <p:sp>
        <p:nvSpPr>
          <p:cNvPr id="21" name="Shape 19"/>
          <p:cNvSpPr/>
          <p:nvPr/>
        </p:nvSpPr>
        <p:spPr>
          <a:xfrm>
            <a:off x="4846320" y="2834640"/>
            <a:ext cx="173736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22" name="Text 20"/>
          <p:cNvSpPr/>
          <p:nvPr/>
        </p:nvSpPr>
        <p:spPr>
          <a:xfrm>
            <a:off x="4983480" y="301752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퍼블릭 런칭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마케팅 본격화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고객 확보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635240" y="2331720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24" name="Text 22"/>
          <p:cNvSpPr/>
          <p:nvPr/>
        </p:nvSpPr>
        <p:spPr>
          <a:xfrm>
            <a:off x="6903720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0372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Scale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995160" y="2834640"/>
            <a:ext cx="1737360" cy="1645920"/>
          </a:xfrm>
          <a:prstGeom prst="rect">
            <a:avLst/>
          </a:prstGeom>
          <a:solidFill>
            <a:srgbClr val="15223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SG"/>
          </a:p>
        </p:txBody>
      </p:sp>
      <p:sp>
        <p:nvSpPr>
          <p:cNvPr id="27" name="Shape 25"/>
          <p:cNvSpPr/>
          <p:nvPr/>
        </p:nvSpPr>
        <p:spPr>
          <a:xfrm>
            <a:off x="6995160" y="2834640"/>
            <a:ext cx="1737360" cy="4572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28" name="Text 26"/>
          <p:cNvSpPr/>
          <p:nvPr/>
        </p:nvSpPr>
        <p:spPr>
          <a:xfrm>
            <a:off x="7132320" y="301752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API 제공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글로벌(쿠팡) 확장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 고객 목표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Summary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8046720" cy="530352"/>
          </a:xfrm>
          <a:prstGeom prst="rect">
            <a:avLst/>
          </a:prstGeom>
          <a:solidFill>
            <a:srgbClr val="15223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SG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864" cy="5303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7" name="Text 5"/>
          <p:cNvSpPr/>
          <p:nvPr/>
        </p:nvSpPr>
        <p:spPr>
          <a:xfrm>
            <a:off x="777240" y="146304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011680" y="146304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네이버 스마트스토어 셀러 50만+ (키워드 도구 시장 $50B+)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8046720" cy="530352"/>
          </a:xfrm>
          <a:prstGeom prst="rect">
            <a:avLst/>
          </a:prstGeom>
          <a:solidFill>
            <a:srgbClr val="15223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SG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54864" cy="5303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11" name="Text 9"/>
          <p:cNvSpPr/>
          <p:nvPr/>
        </p:nvSpPr>
        <p:spPr>
          <a:xfrm>
            <a:off x="777240" y="210312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해자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11680" y="210312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키워드 '창작' + Vision 검증 → 경쟁사 미보유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8046720" cy="530352"/>
          </a:xfrm>
          <a:prstGeom prst="rect">
            <a:avLst/>
          </a:prstGeom>
          <a:solidFill>
            <a:srgbClr val="15223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SG"/>
          </a:p>
        </p:txBody>
      </p:sp>
      <p:sp>
        <p:nvSpPr>
          <p:cNvPr id="14" name="Shape 12"/>
          <p:cNvSpPr/>
          <p:nvPr/>
        </p:nvSpPr>
        <p:spPr>
          <a:xfrm>
            <a:off x="548640" y="2743200"/>
            <a:ext cx="54864" cy="5303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15" name="Text 13"/>
          <p:cNvSpPr/>
          <p:nvPr/>
        </p:nvSpPr>
        <p:spPr>
          <a:xfrm>
            <a:off x="777240" y="274320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원가 우위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011680" y="274320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건당 3~7원 vs 대행사 500~30,000원 (100배+ 차이)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383280"/>
            <a:ext cx="8046720" cy="530352"/>
          </a:xfrm>
          <a:prstGeom prst="rect">
            <a:avLst/>
          </a:prstGeom>
          <a:solidFill>
            <a:srgbClr val="15223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SG"/>
          </a:p>
        </p:txBody>
      </p:sp>
      <p:sp>
        <p:nvSpPr>
          <p:cNvPr id="18" name="Shape 16"/>
          <p:cNvSpPr/>
          <p:nvPr/>
        </p:nvSpPr>
        <p:spPr>
          <a:xfrm>
            <a:off x="548640" y="3383280"/>
            <a:ext cx="54864" cy="5303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19" name="Text 17"/>
          <p:cNvSpPr/>
          <p:nvPr/>
        </p:nvSpPr>
        <p:spPr>
          <a:xfrm>
            <a:off x="777240" y="338328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수익성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011680" y="338328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1년차 ARR 5.35억, 영업이익률 74.6%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023360"/>
            <a:ext cx="8046720" cy="530352"/>
          </a:xfrm>
          <a:prstGeom prst="rect">
            <a:avLst/>
          </a:prstGeom>
          <a:solidFill>
            <a:srgbClr val="15223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SG"/>
          </a:p>
        </p:txBody>
      </p:sp>
      <p:sp>
        <p:nvSpPr>
          <p:cNvPr id="22" name="Shape 20"/>
          <p:cNvSpPr/>
          <p:nvPr/>
        </p:nvSpPr>
        <p:spPr>
          <a:xfrm>
            <a:off x="548640" y="4023360"/>
            <a:ext cx="54864" cy="5303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SG"/>
          </a:p>
        </p:txBody>
      </p:sp>
      <p:sp>
        <p:nvSpPr>
          <p:cNvPr id="23" name="Text 21"/>
          <p:cNvSpPr/>
          <p:nvPr/>
        </p:nvSpPr>
        <p:spPr>
          <a:xfrm>
            <a:off x="777240" y="402336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성장 경로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011680" y="402336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전환 → B2B API → 글로벌 (쿠팡/아마존)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BRIGHTEN PTE. LTD.  |  LEE HANSANG  |  lhs@brightenllc.com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657</Words>
  <Application>Microsoft Macintosh PowerPoint</Application>
  <PresentationFormat>화면 슬라이드 쇼(16:9)</PresentationFormat>
  <Paragraphs>213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Arial</vt:lpstr>
      <vt:lpstr>Arial Black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덕우 AI 키워드 최적화 SaaS 사업계획서</dc:title>
  <dc:subject>PptxGenJS Presentation</dc:subject>
  <dc:creator>BRIGHTEN PTE. LTD.</dc:creator>
  <cp:lastModifiedBy>Hansang Lee</cp:lastModifiedBy>
  <cp:revision>1</cp:revision>
  <dcterms:created xsi:type="dcterms:W3CDTF">2026-04-18T09:17:06Z</dcterms:created>
  <dcterms:modified xsi:type="dcterms:W3CDTF">2026-04-18T09:20:42Z</dcterms:modified>
</cp:coreProperties>
</file>